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1CA5457B-CDAE-4DEB-AEC8-C82DE2312E37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90B78EA-28CE-41D8-9043-90E391E5F567}" type="datetimeFigureOut">
              <a:rPr lang="en-US" noProof="0" smtClean="0"/>
              <a:t>8/8/2025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=""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=""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=""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=""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=""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=""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=""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=""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=""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=""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=""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=""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=""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=""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=""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=""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=""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=""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=""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=""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=""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=""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=""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=""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=""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=""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=""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=""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=""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=""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=""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=""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=""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=""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=""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=""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=""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=""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=""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=""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=""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=""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=""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=""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46667"/>
          </a:xfrm>
        </p:spPr>
        <p:txBody>
          <a:bodyPr/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+mn-lt"/>
              </a:rPr>
              <a:t>REAL PROPERTY TAX </a:t>
            </a:r>
            <a:r>
              <a:rPr lang="en-US" sz="4800" dirty="0" smtClean="0">
                <a:solidFill>
                  <a:schemeClr val="bg1"/>
                </a:solidFill>
                <a:latin typeface="+mn-lt"/>
              </a:rPr>
              <a:t>RATES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125" y="762002"/>
            <a:ext cx="4402669" cy="5794927"/>
          </a:xfrm>
        </p:spPr>
        <p:txBody>
          <a:bodyPr numCol="1">
            <a:noAutofit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FF00"/>
                </a:solidFill>
              </a:rPr>
              <a:t>Jan. 1-31</a:t>
            </a:r>
            <a:r>
              <a:rPr lang="en-US" b="1" dirty="0" smtClean="0"/>
              <a:t>	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/>
              <a:t>Feb. 1-15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FF00"/>
                </a:solidFill>
              </a:rPr>
              <a:t>Feb. 16-Mar. 31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sz="500" b="1" dirty="0" smtClean="0">
              <a:solidFill>
                <a:srgbClr val="FFFF00"/>
              </a:solidFill>
            </a:endParaRP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/>
              <a:t>Apr. 1-May 15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sz="1050" b="1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FF00"/>
                </a:solidFill>
              </a:rPr>
              <a:t>May 16-June 30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sz="300" b="1" dirty="0" smtClean="0">
              <a:solidFill>
                <a:srgbClr val="FFFF00"/>
              </a:solidFill>
            </a:endParaRP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b="1" dirty="0" smtClean="0">
              <a:solidFill>
                <a:srgbClr val="FFFF00"/>
              </a:solidFill>
            </a:endParaRP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/>
              <a:t>July 1 – Aug. 15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sz="1000" b="1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FF00"/>
                </a:solidFill>
              </a:rPr>
              <a:t>Aug. 16-Sept. 30</a:t>
            </a:r>
          </a:p>
          <a:p>
            <a:pPr>
              <a:buClrTx/>
            </a:pPr>
            <a:endParaRPr lang="en-US" sz="800" b="1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b="1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/>
              <a:t>Oct. 1-Nov. 15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endParaRPr lang="en-US" sz="1000" b="1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FFFF00"/>
                </a:solidFill>
              </a:rPr>
              <a:t>Nov. 16-Dec. 31</a:t>
            </a:r>
          </a:p>
          <a:p>
            <a:pPr>
              <a:buClrTx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0D537F64-4C96-4AA8-BB21-E8053A3186DD}"/>
              </a:ext>
            </a:extLst>
          </p:cNvPr>
          <p:cNvSpPr txBox="1">
            <a:spLocks/>
          </p:cNvSpPr>
          <p:nvPr/>
        </p:nvSpPr>
        <p:spPr>
          <a:xfrm>
            <a:off x="6849535" y="859875"/>
            <a:ext cx="6324598" cy="5781719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15% Discount on All Quarters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10% Discount on All Quarters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1</a:t>
            </a:r>
            <a:r>
              <a:rPr lang="en-US" sz="3200" baseline="30000" dirty="0" smtClean="0">
                <a:solidFill>
                  <a:srgbClr val="FFFF00"/>
                </a:solidFill>
              </a:rPr>
              <a:t>st</a:t>
            </a:r>
            <a:r>
              <a:rPr lang="en-US" sz="3200" dirty="0" smtClean="0">
                <a:solidFill>
                  <a:srgbClr val="FFFF00"/>
                </a:solidFill>
              </a:rPr>
              <a:t> Qtr. No Penalty No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2</a:t>
            </a:r>
            <a:r>
              <a:rPr lang="en-US" sz="3200" baseline="30000" dirty="0" smtClean="0">
                <a:solidFill>
                  <a:srgbClr val="FFFF00"/>
                </a:solidFill>
              </a:rPr>
              <a:t>nd</a:t>
            </a:r>
            <a:r>
              <a:rPr lang="en-US" sz="3200" dirty="0" smtClean="0">
                <a:solidFill>
                  <a:srgbClr val="FFFF00"/>
                </a:solidFill>
              </a:rPr>
              <a:t> to 4</a:t>
            </a:r>
            <a:r>
              <a:rPr lang="en-US" sz="3200" baseline="30000" dirty="0" smtClean="0">
                <a:solidFill>
                  <a:srgbClr val="FFFF00"/>
                </a:solidFill>
              </a:rPr>
              <a:t>th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10%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2</a:t>
            </a:r>
            <a:r>
              <a:rPr lang="en-US" sz="3200" baseline="30000" dirty="0" smtClean="0"/>
              <a:t>nd</a:t>
            </a:r>
            <a:r>
              <a:rPr lang="en-US" sz="3200" dirty="0" smtClean="0"/>
              <a:t> to 4</a:t>
            </a:r>
            <a:r>
              <a:rPr lang="en-US" sz="3200" baseline="30000" dirty="0" smtClean="0"/>
              <a:t>th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10%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1</a:t>
            </a:r>
            <a:r>
              <a:rPr lang="en-US" sz="3200" baseline="30000" dirty="0" smtClean="0">
                <a:solidFill>
                  <a:srgbClr val="FFFF00"/>
                </a:solidFill>
              </a:rPr>
              <a:t>st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2</a:t>
            </a:r>
            <a:r>
              <a:rPr lang="en-US" sz="3200" baseline="30000" dirty="0" smtClean="0">
                <a:solidFill>
                  <a:srgbClr val="FFFF00"/>
                </a:solidFill>
              </a:rPr>
              <a:t>nd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No Penalty No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3</a:t>
            </a:r>
            <a:r>
              <a:rPr lang="en-US" sz="3200" baseline="30000" dirty="0" smtClean="0">
                <a:solidFill>
                  <a:srgbClr val="FFFF00"/>
                </a:solidFill>
              </a:rPr>
              <a:t>rd</a:t>
            </a:r>
            <a:r>
              <a:rPr lang="en-US" sz="3200" dirty="0" smtClean="0">
                <a:solidFill>
                  <a:srgbClr val="FFFF00"/>
                </a:solidFill>
              </a:rPr>
              <a:t> to 4</a:t>
            </a:r>
            <a:r>
              <a:rPr lang="en-US" sz="3200" baseline="30000" dirty="0" smtClean="0">
                <a:solidFill>
                  <a:srgbClr val="FFFF00"/>
                </a:solidFill>
              </a:rPr>
              <a:t>th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10%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and 2</a:t>
            </a:r>
            <a:r>
              <a:rPr lang="en-US" sz="3200" baseline="30000" dirty="0" smtClean="0"/>
              <a:t>nd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3</a:t>
            </a:r>
            <a:r>
              <a:rPr lang="en-US" sz="3200" baseline="30000" dirty="0" smtClean="0"/>
              <a:t>rd</a:t>
            </a:r>
            <a:r>
              <a:rPr lang="en-US" sz="3200" dirty="0" smtClean="0"/>
              <a:t> to 4</a:t>
            </a:r>
            <a:r>
              <a:rPr lang="en-US" sz="3200" baseline="30000" dirty="0" smtClean="0"/>
              <a:t>th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10%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00"/>
                </a:solidFill>
              </a:rPr>
              <a:t>1</a:t>
            </a:r>
            <a:r>
              <a:rPr lang="en-US" sz="3200" baseline="30000" dirty="0">
                <a:solidFill>
                  <a:srgbClr val="FFFF00"/>
                </a:solidFill>
              </a:rPr>
              <a:t>st</a:t>
            </a:r>
            <a:r>
              <a:rPr lang="en-US" sz="3200" dirty="0">
                <a:solidFill>
                  <a:srgbClr val="FFFF00"/>
                </a:solidFill>
              </a:rPr>
              <a:t> and 2</a:t>
            </a:r>
            <a:r>
              <a:rPr lang="en-US" sz="3200" baseline="30000" dirty="0">
                <a:solidFill>
                  <a:srgbClr val="FFFF00"/>
                </a:solidFill>
              </a:rPr>
              <a:t>nd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Qtr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smtClean="0">
                <a:solidFill>
                  <a:srgbClr val="FFFF00"/>
                </a:solidFill>
              </a:rPr>
              <a:t>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3</a:t>
            </a:r>
            <a:r>
              <a:rPr lang="en-US" sz="3200" baseline="30000" dirty="0" smtClean="0">
                <a:solidFill>
                  <a:srgbClr val="FFFF00"/>
                </a:solidFill>
              </a:rPr>
              <a:t>rd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No Penalty No Discount</a:t>
            </a:r>
            <a:endParaRPr lang="en-US" sz="3200" dirty="0">
              <a:solidFill>
                <a:srgbClr val="FFFF00"/>
              </a:solidFill>
            </a:endParaRP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4</a:t>
            </a:r>
            <a:r>
              <a:rPr lang="en-US" sz="3200" baseline="30000" dirty="0" smtClean="0">
                <a:solidFill>
                  <a:srgbClr val="FFFF00"/>
                </a:solidFill>
              </a:rPr>
              <a:t>th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10% Discount</a:t>
            </a:r>
            <a:endParaRPr lang="en-US" sz="3200" dirty="0">
              <a:solidFill>
                <a:srgbClr val="FFFF00"/>
              </a:solidFill>
            </a:endParaRP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to 3</a:t>
            </a:r>
            <a:r>
              <a:rPr lang="en-US" sz="3200" baseline="30000" dirty="0" smtClean="0"/>
              <a:t>rd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/>
              <a:t>4</a:t>
            </a:r>
            <a:r>
              <a:rPr lang="en-US" sz="3200" baseline="30000" dirty="0" smtClean="0"/>
              <a:t>th</a:t>
            </a:r>
            <a:r>
              <a:rPr lang="en-US" sz="3200" dirty="0" smtClean="0"/>
              <a:t> </a:t>
            </a:r>
            <a:r>
              <a:rPr lang="en-US" sz="3200" dirty="0" err="1" smtClean="0"/>
              <a:t>Qtr</a:t>
            </a:r>
            <a:r>
              <a:rPr lang="en-US" sz="3200" dirty="0" smtClean="0"/>
              <a:t> 10% Discount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1</a:t>
            </a:r>
            <a:r>
              <a:rPr lang="en-US" sz="3200" baseline="30000" dirty="0" smtClean="0">
                <a:solidFill>
                  <a:srgbClr val="FFFF00"/>
                </a:solidFill>
              </a:rPr>
              <a:t>st</a:t>
            </a:r>
            <a:r>
              <a:rPr lang="en-US" sz="3200" dirty="0" smtClean="0">
                <a:solidFill>
                  <a:srgbClr val="FFFF00"/>
                </a:solidFill>
              </a:rPr>
              <a:t> to 3</a:t>
            </a:r>
            <a:r>
              <a:rPr lang="en-US" sz="3200" baseline="30000" dirty="0" smtClean="0">
                <a:solidFill>
                  <a:srgbClr val="FFFF00"/>
                </a:solidFill>
              </a:rPr>
              <a:t>rd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Penalized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FFFF00"/>
                </a:solidFill>
              </a:rPr>
              <a:t>4</a:t>
            </a:r>
            <a:r>
              <a:rPr lang="en-US" sz="3200" baseline="30000" dirty="0" smtClean="0">
                <a:solidFill>
                  <a:srgbClr val="FFFF00"/>
                </a:solidFill>
              </a:rPr>
              <a:t>th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Qtr</a:t>
            </a:r>
            <a:r>
              <a:rPr lang="en-US" sz="3200" dirty="0" smtClean="0">
                <a:solidFill>
                  <a:srgbClr val="FFFF00"/>
                </a:solidFill>
              </a:rPr>
              <a:t> No Penalty No Discount</a:t>
            </a:r>
            <a:endParaRPr lang="en-US" sz="3200" dirty="0">
              <a:solidFill>
                <a:srgbClr val="FFFF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13" y="3659465"/>
            <a:ext cx="1755776" cy="1755776"/>
          </a:xfrm>
          <a:prstGeom prst="rect">
            <a:avLst/>
          </a:prstGeom>
        </p:spPr>
      </p:pic>
      <p:pic>
        <p:nvPicPr>
          <p:cNvPr id="1026" name="Picture 2" descr="Provincial Government of Batangas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89" y="1458660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purl.org/dc/terms/"/>
    <ds:schemaRef ds:uri="http://purl.org/dc/elements/1.1/"/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108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Tahoma</vt:lpstr>
      <vt:lpstr>Trade Gothic LT Pro</vt:lpstr>
      <vt:lpstr>Trebuchet MS</vt:lpstr>
      <vt:lpstr>Wingdings</vt:lpstr>
      <vt:lpstr>Office Theme</vt:lpstr>
      <vt:lpstr>REAL PROPERTY TAX RATES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RPT</cp:keywords>
  <cp:lastModifiedBy/>
  <cp:revision>1</cp:revision>
  <dcterms:created xsi:type="dcterms:W3CDTF">2023-12-22T05:31:07Z</dcterms:created>
  <dcterms:modified xsi:type="dcterms:W3CDTF">2025-08-08T03:25:59Z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